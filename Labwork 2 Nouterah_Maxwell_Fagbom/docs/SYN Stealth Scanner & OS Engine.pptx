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8" Type="http://schemas.openxmlformats.org/officeDocument/2006/relationships/image" Target="../media/image2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2.png"/><Relationship Id="rId4" Type="http://schemas.openxmlformats.org/officeDocument/2006/relationships/image" Target="../media/image2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95437" y="2100262"/>
            <a:ext cx="9001125" cy="1257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950"/>
              </a:lnSpc>
            </a:pPr>
            <a:r>
              <a:rPr b="1" sz="4500" i="0" u="none">
                <a:solidFill>
                  <a:srgbClr val="FFFFFF"/>
                </a:solidFill>
                <a:latin typeface="Poppins"/>
              </a:rPr>
              <a:t>SYN Stealth Scanner &amp; OS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9750" y="3548062"/>
            <a:ext cx="8572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b="0" sz="1500" i="0" u="none">
                <a:solidFill>
                  <a:srgbClr val="94A3B8"/>
                </a:solidFill>
                <a:latin typeface="Lato"/>
              </a:rPr>
              <a:t>Building an Automated SYN Stealth Scanner, OS Fingerprinting Engine &amp; HTML Dashboard Generator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9750" y="4214812"/>
            <a:ext cx="8572500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CBD5E1"/>
                </a:solidFill>
                <a:latin typeface="Lato"/>
              </a:rPr>
              <a:t>Author:</a:t>
            </a:r>
            <a:r>
              <a:rPr b="0" sz="1200" i="0" u="none">
                <a:solidFill>
                  <a:srgbClr val="CBD5E1"/>
                </a:solidFill>
                <a:latin typeface="Lato"/>
              </a:rPr>
              <a:t> Nouterah Maxwell Fagbom (FCM.41.018.187.23) | </a:t>
            </a:r>
            <a:r>
              <a:rPr b="1" sz="1200" i="0" u="none">
                <a:solidFill>
                  <a:srgbClr val="CBD5E1"/>
                </a:solidFill>
                <a:latin typeface="Lato"/>
              </a:rPr>
              <a:t>Team:</a:t>
            </a:r>
            <a:r>
              <a:rPr b="0" sz="1200" i="0" u="none">
                <a:solidFill>
                  <a:srgbClr val="CBD5E1"/>
                </a:solidFill>
                <a:latin typeface="Lato"/>
              </a:rPr>
              <a:t> Red Team</a:t>
            </a:r>
            <a:r>
              <a:t>
</a:t>
            </a:r>
            <a:r>
              <a:rPr b="1" sz="1200" i="0" u="none">
                <a:solidFill>
                  <a:srgbClr val="CBD5E1"/>
                </a:solidFill>
                <a:latin typeface="Lato"/>
              </a:rPr>
              <a:t>Institution:</a:t>
            </a:r>
            <a:r>
              <a:rPr b="0" sz="1200" i="0" u="none">
                <a:solidFill>
                  <a:srgbClr val="CBD5E1"/>
                </a:solidFill>
                <a:latin typeface="Lato"/>
              </a:rPr>
              <a:t> University of Mines and Technology (UMaT)</a:t>
            </a:r>
            <a:r>
              <a:t>
</a:t>
            </a:r>
            <a:r>
              <a:rPr b="1" sz="1200" i="0" u="none">
                <a:solidFill>
                  <a:srgbClr val="CBD5E1"/>
                </a:solidFill>
                <a:latin typeface="Lato"/>
              </a:rPr>
              <a:t>Course:</a:t>
            </a:r>
            <a:r>
              <a:rPr b="0" sz="1200" i="0" u="none">
                <a:solidFill>
                  <a:srgbClr val="CBD5E1"/>
                </a:solidFill>
                <a:latin typeface="Lato"/>
              </a:rPr>
              <a:t> CY375 Network Security, Auditing and Monitoring | </a:t>
            </a:r>
            <a:r>
              <a:rPr b="1" sz="1200" i="0" u="none">
                <a:solidFill>
                  <a:srgbClr val="CBD5E1"/>
                </a:solidFill>
                <a:latin typeface="Lato"/>
              </a:rPr>
              <a:t>Lecturer:</a:t>
            </a:r>
            <a:r>
              <a:rPr b="0" sz="1200" i="0" u="none">
                <a:solidFill>
                  <a:srgbClr val="CBD5E1"/>
                </a:solidFill>
                <a:latin typeface="Lato"/>
              </a:rPr>
              <a:t> Mr. Frederick Edem Broni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566987"/>
            <a:ext cx="5334000" cy="26765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566987"/>
            <a:ext cx="5334000" cy="26765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6775" y="2862262"/>
            <a:ext cx="4980622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950" i="0" u="none">
                <a:solidFill>
                  <a:srgbClr val="1E40AF"/>
                </a:solidFill>
                <a:latin typeface="Poppins SemiBold"/>
              </a:rPr>
              <a:t>Baseline Limitations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6775" y="3348037"/>
            <a:ext cx="4743450" cy="971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334155"/>
                </a:solidFill>
                <a:latin typeface="Lato"/>
              </a:rPr>
              <a:t>Legacy scripts (scanner.py, fingerprinter.py) utilized standard full-connect socket connections (`connect_ex()`). While effective at basic port discovery, completing full TCP three-way handshakes generates explicit connection logs on target systems.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1775" y="2862262"/>
            <a:ext cx="4980622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950" i="0" u="none">
                <a:solidFill>
                  <a:srgbClr val="1E40AF"/>
                </a:solidFill>
                <a:latin typeface="Poppins SemiBold"/>
              </a:rPr>
              <a:t>Operational Deficiencies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1775" y="3348037"/>
            <a:ext cx="4743450" cy="1457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334155"/>
                </a:solidFill>
                <a:latin typeface="Lato"/>
              </a:rPr>
              <a:t>1. </a:t>
            </a:r>
            <a:r>
              <a:rPr b="1" sz="1275" i="0" u="none">
                <a:solidFill>
                  <a:srgbClr val="334155"/>
                </a:solidFill>
                <a:latin typeface="Lato"/>
              </a:rPr>
              <a:t>High Logging Footprint:</a:t>
            </a:r>
            <a:r>
              <a:rPr b="0" sz="1275" i="0" u="none">
                <a:solidFill>
                  <a:srgbClr val="334155"/>
                </a:solidFill>
                <a:latin typeface="Lato"/>
              </a:rPr>
              <a:t> Leaves clear connection traces in target event logs.</a:t>
            </a:r>
            <a:r>
              <a:t>
</a:t>
            </a:r>
            <a:r>
              <a:rPr b="0" sz="1275" i="0" u="none">
                <a:solidFill>
                  <a:srgbClr val="334155"/>
                </a:solidFill>
                <a:latin typeface="Lato"/>
              </a:rPr>
              <a:t> 2. </a:t>
            </a:r>
            <a:r>
              <a:rPr b="1" sz="1275" i="0" u="none">
                <a:solidFill>
                  <a:srgbClr val="334155"/>
                </a:solidFill>
                <a:latin typeface="Lato"/>
              </a:rPr>
              <a:t>No OS Identification:</a:t>
            </a:r>
            <a:r>
              <a:rPr b="0" sz="1275" i="0" u="none">
                <a:solidFill>
                  <a:srgbClr val="334155"/>
                </a:solidFill>
                <a:latin typeface="Lato"/>
              </a:rPr>
              <a:t> Unable to infer underlying operating system architectures.</a:t>
            </a:r>
            <a:r>
              <a:t>
</a:t>
            </a:r>
            <a:r>
              <a:rPr b="0" sz="1275" i="0" u="none">
                <a:solidFill>
                  <a:srgbClr val="334155"/>
                </a:solidFill>
                <a:latin typeface="Lato"/>
              </a:rPr>
              <a:t> 3. </a:t>
            </a:r>
            <a:r>
              <a:rPr b="1" sz="1275" i="0" u="none">
                <a:solidFill>
                  <a:srgbClr val="334155"/>
                </a:solidFill>
                <a:latin typeface="Lato"/>
              </a:rPr>
              <a:t>Unstructured Output:</a:t>
            </a:r>
            <a:r>
              <a:rPr b="0" sz="1275" i="0" u="none">
                <a:solidFill>
                  <a:srgbClr val="334155"/>
                </a:solidFill>
                <a:latin typeface="Lato"/>
              </a:rPr>
              <a:t> Terminal-only text impedes executive reporting and auditing.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476250"/>
            <a:ext cx="116014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850" i="0" u="none">
                <a:solidFill>
                  <a:srgbClr val="0F172A"/>
                </a:solidFill>
                <a:latin typeface="Poppins SemiBold"/>
              </a:rPr>
              <a:t>Project Context &amp; The Problem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" y="111442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66875" y="2383631"/>
            <a:ext cx="9191625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0F172A"/>
                </a:solidFill>
                <a:latin typeface="Lato"/>
              </a:rPr>
              <a:t>SYN Stealth Scanning Integration:</a:t>
            </a:r>
            <a:r>
              <a:rPr b="0" sz="1275" i="0" u="none">
                <a:solidFill>
                  <a:srgbClr val="334155"/>
                </a:solidFill>
                <a:latin typeface="Lato"/>
              </a:rPr>
              <a:t> Replace standard full sockets with half-open TCP SYN probes crafted via Scapy to minimize logging footprints.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66875" y="3040856"/>
            <a:ext cx="9191625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0F172A"/>
                </a:solidFill>
                <a:latin typeface="Lato"/>
              </a:rPr>
              <a:t>Active OS Fingerprinting:</a:t>
            </a:r>
            <a:r>
              <a:rPr b="0" sz="1275" i="0" u="none">
                <a:solidFill>
                  <a:srgbClr val="334155"/>
                </a:solidFill>
                <a:latin typeface="Lato"/>
              </a:rPr>
              <a:t> Implement TCP/IP stack analysis by evaluating Time-To-Live (TTL) and TCP Window size header heuristics.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66875" y="3698081"/>
            <a:ext cx="9191625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0F172A"/>
                </a:solidFill>
                <a:latin typeface="Lato"/>
              </a:rPr>
              <a:t>Concurrency Optimization:</a:t>
            </a:r>
            <a:r>
              <a:rPr b="0" sz="1275" i="0" u="none">
                <a:solidFill>
                  <a:srgbClr val="334155"/>
                </a:solidFill>
                <a:latin typeface="Lato"/>
              </a:rPr>
              <a:t> Utilize `concurrent.futures.ThreadPoolExecutor` for managed multi-threaded scanning performance and stability.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66875" y="4355306"/>
            <a:ext cx="9191625" cy="2428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0F172A"/>
                </a:solidFill>
                <a:latin typeface="Lato"/>
              </a:rPr>
              <a:t>Offline Threat Intelligence:</a:t>
            </a:r>
            <a:r>
              <a:rPr b="0" sz="1275" i="0" u="none">
                <a:solidFill>
                  <a:srgbClr val="334155"/>
                </a:solidFill>
                <a:latin typeface="Lato"/>
              </a:rPr>
              <a:t> Maintain a localized banner-to-CVE signature dictionary for air-gapped security audit environments.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66875" y="4769643"/>
            <a:ext cx="9191625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0F172A"/>
                </a:solidFill>
                <a:latin typeface="Lato"/>
              </a:rPr>
              <a:t>Automated Reporting Engine:</a:t>
            </a:r>
            <a:r>
              <a:rPr b="0" sz="1275" i="0" u="none">
                <a:solidFill>
                  <a:srgbClr val="334155"/>
                </a:solidFill>
                <a:latin typeface="Lato"/>
              </a:rPr>
              <a:t> Export structured findings into CSV, Markdown, plain text, and styled HTML dark-mode dashboards.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407443"/>
            <a:ext cx="190500" cy="2000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3500" y="3064668"/>
            <a:ext cx="190500" cy="2000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3721893"/>
            <a:ext cx="171450" cy="2000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33500" y="4379118"/>
            <a:ext cx="171450" cy="2000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33500" y="4793456"/>
            <a:ext cx="142875" cy="20002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1500" y="476250"/>
            <a:ext cx="116014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850" i="0" u="none">
                <a:solidFill>
                  <a:srgbClr val="0F172A"/>
                </a:solidFill>
                <a:latin typeface="Poppins SemiBold"/>
              </a:rPr>
              <a:t>Core Project Objectives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" y="111442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616993"/>
            <a:ext cx="5334000" cy="257651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616993"/>
            <a:ext cx="5334000" cy="25765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6775" y="2912268"/>
            <a:ext cx="4980622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950" i="0" u="none">
                <a:solidFill>
                  <a:srgbClr val="1E40AF"/>
                </a:solidFill>
                <a:latin typeface="Poppins SemiBold"/>
              </a:rPr>
              <a:t>MITRE ATT&amp;CK Mapping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6775" y="3398043"/>
            <a:ext cx="4743450" cy="7286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334155"/>
                </a:solidFill>
                <a:latin typeface="Lato"/>
              </a:rPr>
              <a:t>Under the MITRE ATT&amp;CK framework, active scanning corresponds to </a:t>
            </a:r>
            <a:r>
              <a:rPr b="1" sz="1275" i="0" u="none">
                <a:solidFill>
                  <a:srgbClr val="334155"/>
                </a:solidFill>
                <a:latin typeface="Lato"/>
              </a:rPr>
              <a:t>Reconnaissance (Tactic TA0043, Technique T1595)</a:t>
            </a:r>
            <a:r>
              <a:rPr b="0" sz="1275" i="0" u="none">
                <a:solidFill>
                  <a:srgbClr val="334155"/>
                </a:solidFill>
                <a:latin typeface="Lato"/>
              </a:rPr>
              <a:t> and </a:t>
            </a:r>
            <a:r>
              <a:rPr b="1" sz="1275" i="0" u="none">
                <a:solidFill>
                  <a:srgbClr val="334155"/>
                </a:solidFill>
                <a:latin typeface="Lato"/>
              </a:rPr>
              <a:t>Network Service Discovery (Technique T1046)</a:t>
            </a:r>
            <a:r>
              <a:rPr b="0" sz="1275" i="0" u="none">
                <a:solidFill>
                  <a:srgbClr val="334155"/>
                </a:solidFill>
                <a:latin typeface="Lato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6775" y="4269581"/>
            <a:ext cx="474345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334155"/>
                </a:solidFill>
                <a:latin typeface="Lato"/>
              </a:rPr>
              <a:t>Modern defense systems actively monitor and log completed TCP connections, mandating stealthy probe strategies.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1775" y="2912268"/>
            <a:ext cx="4980622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950" i="0" u="none">
                <a:solidFill>
                  <a:srgbClr val="1E40AF"/>
                </a:solidFill>
                <a:latin typeface="Poppins SemiBold"/>
              </a:rPr>
              <a:t>Full-Connect vs. SYN Stealth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1775" y="3398043"/>
            <a:ext cx="474345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334155"/>
                </a:solidFill>
                <a:latin typeface="Lato"/>
              </a:rPr>
              <a:t>Full-Connect:</a:t>
            </a:r>
            <a:r>
              <a:rPr b="0" sz="1275" i="0" u="none">
                <a:solidFill>
                  <a:srgbClr val="334155"/>
                </a:solidFill>
                <a:latin typeface="Lato"/>
              </a:rPr>
              <a:t> Initiates full SYN -&gt; SYN-ACK -&gt; ACK handshakes, triggering application logs.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1775" y="4026693"/>
            <a:ext cx="4743450" cy="7286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334155"/>
                </a:solidFill>
                <a:latin typeface="Lato"/>
              </a:rPr>
              <a:t>SYN Stealth (Half-Open):</a:t>
            </a:r>
            <a:r>
              <a:rPr b="0" sz="1275" i="0" u="none">
                <a:solidFill>
                  <a:srgbClr val="334155"/>
                </a:solidFill>
                <a:latin typeface="Lato"/>
              </a:rPr>
              <a:t> Transmits raw SYN packets. Upon receiving SYN-ACK, the engine records an OPEN port and immediately sends a RST packet, avoiding application-layer logging.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476250"/>
            <a:ext cx="116014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850" i="0" u="none">
                <a:solidFill>
                  <a:srgbClr val="0F172A"/>
                </a:solidFill>
                <a:latin typeface="Poppins SemiBold"/>
              </a:rPr>
              <a:t>Reconnaissance &amp; Threat Framework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111442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71500" y="2528887"/>
            <a:ext cx="11049000" cy="2752725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71500" y="2528887"/>
          <a:ext cx="11039473" cy="27527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670869"/>
                <a:gridCol w="1605408"/>
                <a:gridCol w="2607915"/>
                <a:gridCol w="4155281"/>
              </a:tblGrid>
              <a:tr h="688181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F172A"/>
                          </a:solidFill>
                          <a:latin typeface="Poppins"/>
                        </a:rPr>
                        <a:t>Operating System Family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F172A"/>
                          </a:solidFill>
                          <a:latin typeface="Poppins"/>
                        </a:rPr>
                        <a:t>Default IP TTL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F172A"/>
                          </a:solidFill>
                          <a:latin typeface="Poppins"/>
                        </a:rPr>
                        <a:t>Typical TCP Window Size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F172A"/>
                          </a:solidFill>
                          <a:latin typeface="Poppins"/>
                        </a:rPr>
                        <a:t>Signature Heuristics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</a:tr>
              <a:tr h="688181">
                <a:tc>
                  <a:txBody>
                    <a:bodyPr/>
                    <a:lstStyle/>
                    <a:p>
                      <a:pPr algn="l"/>
                      <a:r>
                        <a:rPr b="1" sz="1275" i="0" u="none">
                          <a:solidFill>
                            <a:srgbClr val="334155"/>
                          </a:solidFill>
                          <a:latin typeface="Lato"/>
                        </a:rPr>
                        <a:t>Linux / Unix / macOS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334155"/>
                          </a:solidFill>
                          <a:latin typeface="Lato"/>
                        </a:rPr>
                        <a:t>64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334155"/>
                          </a:solidFill>
                          <a:latin typeface="Lato"/>
                        </a:rPr>
                        <a:t>5840 / 29200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334155"/>
                          </a:solidFill>
                          <a:latin typeface="Lato"/>
                        </a:rPr>
                        <a:t>RFC compliant Unix kernel network stack behavior.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88181">
                <a:tc>
                  <a:txBody>
                    <a:bodyPr/>
                    <a:lstStyle/>
                    <a:p>
                      <a:pPr algn="l"/>
                      <a:r>
                        <a:rPr b="1" sz="1275" i="0" u="none">
                          <a:solidFill>
                            <a:srgbClr val="334155"/>
                          </a:solidFill>
                          <a:latin typeface="Lato"/>
                        </a:rPr>
                        <a:t>Microsoft Windows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334155"/>
                          </a:solidFill>
                          <a:latin typeface="Lato"/>
                        </a:rPr>
                        <a:t>128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334155"/>
                          </a:solidFill>
                          <a:latin typeface="Lato"/>
                        </a:rPr>
                        <a:t>8192 / 65535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334155"/>
                          </a:solidFill>
                          <a:latin typeface="Lato"/>
                        </a:rPr>
                        <a:t>Default Windows TCP stack configuration parameters.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88182">
                <a:tc>
                  <a:txBody>
                    <a:bodyPr/>
                    <a:lstStyle/>
                    <a:p>
                      <a:pPr algn="l"/>
                      <a:r>
                        <a:rPr b="1" sz="1275" i="0" u="none">
                          <a:solidFill>
                            <a:srgbClr val="334155"/>
                          </a:solidFill>
                          <a:latin typeface="Lato"/>
                        </a:rPr>
                        <a:t>Cisco IOS / Network Devices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334155"/>
                          </a:solidFill>
                          <a:latin typeface="Lato"/>
                        </a:rPr>
                        <a:t>255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334155"/>
                          </a:solidFill>
                          <a:latin typeface="Lato"/>
                        </a:rPr>
                        <a:t>4128 / 8760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334155"/>
                          </a:solidFill>
                          <a:latin typeface="Lato"/>
                        </a:rPr>
                        <a:t>High TTL value typical of core networking gear.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76262" y="3352800"/>
            <a:ext cx="267086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47132" y="3352800"/>
            <a:ext cx="160540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852541" y="3352800"/>
            <a:ext cx="260791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60456" y="3352800"/>
            <a:ext cx="415528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6262" y="3910012"/>
            <a:ext cx="267086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47132" y="3910012"/>
            <a:ext cx="160540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852541" y="3910012"/>
            <a:ext cx="260791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460456" y="3910012"/>
            <a:ext cx="415528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76262" y="4710112"/>
            <a:ext cx="267086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47132" y="4710112"/>
            <a:ext cx="160540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852541" y="4710112"/>
            <a:ext cx="260791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60456" y="4710112"/>
            <a:ext cx="415528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1500" y="476250"/>
            <a:ext cx="116014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850" i="0" u="none">
                <a:solidFill>
                  <a:srgbClr val="0F172A"/>
                </a:solidFill>
                <a:latin typeface="Poppins SemiBold"/>
              </a:rPr>
              <a:t>TCP/IP Stack Fingerprinting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1500" y="111442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095500"/>
            <a:ext cx="5334000" cy="3619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66750" y="2093118"/>
            <a:ext cx="952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334155"/>
                </a:solidFill>
                <a:latin typeface="Lato"/>
              </a:rPr>
              <a:t>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2095500"/>
            <a:ext cx="5143500" cy="485775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334155"/>
                </a:solidFill>
                <a:latin typeface="Lato"/>
              </a:rPr>
              <a:t>Attacker Host:</a:t>
            </a:r>
            <a:r>
              <a:rPr b="0" sz="1275" i="0" u="none">
                <a:solidFill>
                  <a:srgbClr val="334155"/>
                </a:solidFill>
                <a:latin typeface="Lato"/>
              </a:rPr>
              <a:t> Parrot OS virtual machine executing custom Python Scapy reconnaissance scripts (`ultimate_scanner_v4.py`).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6750" y="2693193"/>
            <a:ext cx="952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334155"/>
                </a:solidFill>
                <a:latin typeface="Lato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2695575"/>
            <a:ext cx="5143500" cy="485775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334155"/>
                </a:solidFill>
                <a:latin typeface="Lato"/>
              </a:rPr>
              <a:t>Target Host:</a:t>
            </a:r>
            <a:r>
              <a:rPr b="0" sz="1275" i="0" u="none">
                <a:solidFill>
                  <a:srgbClr val="334155"/>
                </a:solidFill>
                <a:latin typeface="Lato"/>
              </a:rPr>
              <a:t> SEED Ubuntu virtual machine configured with active listening services (FTP on port 21, SSH on port 22, Telnet on port 23).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6750" y="3293268"/>
            <a:ext cx="952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334155"/>
                </a:solidFill>
                <a:latin typeface="Lato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3295650"/>
            <a:ext cx="5143500" cy="728662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334155"/>
                </a:solidFill>
                <a:latin typeface="Lato"/>
              </a:rPr>
              <a:t>Network Topology:</a:t>
            </a:r>
            <a:r>
              <a:rPr b="0" sz="1275" i="0" u="none">
                <a:solidFill>
                  <a:srgbClr val="334155"/>
                </a:solidFill>
                <a:latin typeface="Lato"/>
              </a:rPr>
              <a:t> Bridged local subnet (`192.168.1.0/24` / `192.168.56.0/24`) ensuring isolated, safe experimentation compliant with academic safety standards.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6025" y="2105025"/>
            <a:ext cx="5314950" cy="36004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1500" y="476250"/>
            <a:ext cx="116014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850" i="0" u="none">
                <a:solidFill>
                  <a:srgbClr val="0F172A"/>
                </a:solidFill>
                <a:latin typeface="Poppins SemiBold"/>
              </a:rPr>
              <a:t>Isolated Lab Environment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111442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552700"/>
            <a:ext cx="5334000" cy="27051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552700"/>
            <a:ext cx="5334000" cy="27051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6775" y="2847975"/>
            <a:ext cx="4980622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950" i="0" u="none">
                <a:solidFill>
                  <a:srgbClr val="1E40AF"/>
                </a:solidFill>
                <a:latin typeface="Poppins SemiBold"/>
              </a:rPr>
              <a:t>Phase 1: SYN Stealth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6775" y="3333750"/>
            <a:ext cx="4743450" cy="1476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334155"/>
                </a:solidFill>
                <a:latin typeface="Lato"/>
              </a:rPr>
              <a:t>Constructs raw Layer-3/4 packets using Scapy:</a:t>
            </a:r>
            <a:r>
              <a:t>
</a:t>
            </a:r>
            <a:r>
              <a:rPr b="0" sz="1275" i="0" u="none">
                <a:solidFill>
                  <a:srgbClr val="334155"/>
                </a:solidFill>
                <a:latin typeface="Lato"/>
              </a:rPr>
              <a:t>pkt = IP(dst=target_ip)/TCP(dport=port, flags="S")</a:t>
            </a:r>
            <a:r>
              <a:t>
</a:t>
            </a:r>
            <a:r>
              <a:rPr b="0" sz="1275" i="0" u="none">
                <a:solidFill>
                  <a:srgbClr val="334155"/>
                </a:solidFill>
                <a:latin typeface="Lato"/>
              </a:rPr>
              <a:t> Evaluates response flags (0x12 for SYN-ACK) to confirm open status, instantly issuing a RST packet to prevent full handshake logging.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1775" y="2847975"/>
            <a:ext cx="4980622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950" i="0" u="none">
                <a:solidFill>
                  <a:srgbClr val="1E40AF"/>
                </a:solidFill>
                <a:latin typeface="Poppins SemiBold"/>
              </a:rPr>
              <a:t>Phase 2: OS &amp; Threat Mapping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1775" y="3333750"/>
            <a:ext cx="4743450" cy="148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334155"/>
                </a:solidFill>
                <a:latin typeface="Lato"/>
              </a:rPr>
              <a:t>Extracts IP TTL and TCP Window parameters from response packets:</a:t>
            </a:r>
            <a:r>
              <a:t>
</a:t>
            </a:r>
            <a:r>
              <a:rPr b="0" sz="1275" i="0" u="none">
                <a:solidFill>
                  <a:srgbClr val="334155"/>
                </a:solidFill>
                <a:latin typeface="Lato"/>
              </a:rPr>
              <a:t>ttl_val = response[IP].ttl</a:t>
            </a:r>
            <a:r>
              <a:t>
</a:t>
            </a:r>
            <a:r>
              <a:rPr b="0" sz="1275" i="0" u="none">
                <a:solidFill>
                  <a:srgbClr val="334155"/>
                </a:solidFill>
                <a:latin typeface="Lato"/>
              </a:rPr>
              <a:t>win_size = response[TCP].window</a:t>
            </a:r>
            <a:r>
              <a:t>
</a:t>
            </a:r>
            <a:r>
              <a:rPr b="0" sz="1275" i="0" u="none">
                <a:solidFill>
                  <a:srgbClr val="334155"/>
                </a:solidFill>
                <a:latin typeface="Lato"/>
              </a:rPr>
              <a:t> Banners are cross-referenced with the offline </a:t>
            </a:r>
            <a:r>
              <a:rPr b="0" sz="1275" i="0" u="none">
                <a:solidFill>
                  <a:srgbClr val="334155"/>
                </a:solidFill>
                <a:latin typeface="Lato"/>
              </a:rPr>
              <a:t>VULN_DB</a:t>
            </a:r>
            <a:r>
              <a:rPr b="0" sz="1275" i="0" u="none">
                <a:solidFill>
                  <a:srgbClr val="334155"/>
                </a:solidFill>
                <a:latin typeface="Lato"/>
              </a:rPr>
              <a:t> dictionary for CVE matches.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476250"/>
            <a:ext cx="116014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850" i="0" u="none">
                <a:solidFill>
                  <a:srgbClr val="0F172A"/>
                </a:solidFill>
                <a:latin typeface="Poppins SemiBold"/>
              </a:rPr>
              <a:t>Engine Implementation Phases 1 &amp;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" y="111442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33625"/>
            <a:ext cx="3492549" cy="31432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9799" y="2333625"/>
            <a:ext cx="3492549" cy="31432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99" y="2333625"/>
            <a:ext cx="3492549" cy="31432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6775" y="3209925"/>
            <a:ext cx="2700337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950" i="0" u="none">
                <a:solidFill>
                  <a:srgbClr val="1E40AF"/>
                </a:solidFill>
                <a:latin typeface="Poppins SemiBold"/>
              </a:rPr>
              <a:t>ThreadPoolExecutor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6775" y="3695700"/>
            <a:ext cx="2901999" cy="971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334155"/>
                </a:solidFill>
                <a:latin typeface="Lato"/>
              </a:rPr>
              <a:t>Replaces basic threading with managed thread pools (`max_workers=20`) to guarantee system stability and accelerate port sweeping across ranges.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45074" y="3209925"/>
            <a:ext cx="2710338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950" i="0" u="none">
                <a:solidFill>
                  <a:srgbClr val="1E40AF"/>
                </a:solidFill>
                <a:latin typeface="Poppins SemiBold"/>
              </a:rPr>
              <a:t>Multi-Format Export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45074" y="3695700"/>
            <a:ext cx="2901999" cy="971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334155"/>
                </a:solidFill>
                <a:latin typeface="Lato"/>
              </a:rPr>
              <a:t>Automatically compiles scan arrays into structured files: plain text logs, comma-separated values (CSV), and Markdown documentation.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23374" y="3209925"/>
            <a:ext cx="3047099" cy="742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950" i="0" u="none">
                <a:solidFill>
                  <a:srgbClr val="1E40AF"/>
                </a:solidFill>
                <a:latin typeface="Poppins SemiBold"/>
              </a:rPr>
              <a:t>HTML Dashboard Generator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23374" y="4067175"/>
            <a:ext cx="2901999" cy="971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334155"/>
                </a:solidFill>
                <a:latin typeface="Lato"/>
              </a:rPr>
              <a:t>Produces a standalone CSS-styled dark-mode HTML executive dashboard (`reports/report_*.html`) for visual stakeholder presentation.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775" y="2676525"/>
            <a:ext cx="361950" cy="3619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5074" y="2676525"/>
            <a:ext cx="409575" cy="3619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23374" y="2676525"/>
            <a:ext cx="361950" cy="3619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71500" y="476250"/>
            <a:ext cx="116014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850" i="0" u="none">
                <a:solidFill>
                  <a:srgbClr val="0F172A"/>
                </a:solidFill>
                <a:latin typeface="Poppins SemiBold"/>
              </a:rPr>
              <a:t>Concurrency &amp; Reporting Engine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1500" y="111442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095500"/>
            <a:ext cx="5334000" cy="3619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66750" y="2093118"/>
            <a:ext cx="952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334155"/>
                </a:solidFill>
                <a:latin typeface="Lato"/>
              </a:rPr>
              <a:t>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2095500"/>
            <a:ext cx="5143500" cy="485775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334155"/>
                </a:solidFill>
                <a:latin typeface="Lato"/>
              </a:rPr>
              <a:t>Pre-Engagement Ping:</a:t>
            </a:r>
            <a:r>
              <a:rPr b="0" sz="1275" i="0" u="none">
                <a:solidFill>
                  <a:srgbClr val="334155"/>
                </a:solidFill>
                <a:latin typeface="Lato"/>
              </a:rPr>
              <a:t> ICMP echo verification confirmed bidirectional connectivity between Parrot OS and SEED Ubuntu VMs.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6750" y="2693193"/>
            <a:ext cx="952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334155"/>
                </a:solidFill>
                <a:latin typeface="Lato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2695575"/>
            <a:ext cx="5143500" cy="485775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334155"/>
                </a:solidFill>
                <a:latin typeface="Lato"/>
              </a:rPr>
              <a:t>SYN Stealth Scan:</a:t>
            </a:r>
            <a:r>
              <a:rPr b="0" sz="1275" i="0" u="none">
                <a:solidFill>
                  <a:srgbClr val="334155"/>
                </a:solidFill>
                <a:latin typeface="Lato"/>
              </a:rPr>
              <a:t> Identified open ports 21 (vsFTPd 3.0.3), 22 (OpenSSH 8.2p1), and 23 without full handshake logging.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6750" y="3293268"/>
            <a:ext cx="952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334155"/>
                </a:solidFill>
                <a:latin typeface="Lato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3295650"/>
            <a:ext cx="5143500" cy="485775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334155"/>
                </a:solidFill>
                <a:latin typeface="Lato"/>
              </a:rPr>
              <a:t>OS Identification:</a:t>
            </a:r>
            <a:r>
              <a:rPr b="0" sz="1275" i="0" u="none">
                <a:solidFill>
                  <a:srgbClr val="334155"/>
                </a:solidFill>
                <a:latin typeface="Lato"/>
              </a:rPr>
              <a:t> Successfully classified target as Linux/Unix/macOS based on TTL=64 heuristic analysis.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6025" y="2105025"/>
            <a:ext cx="5314950" cy="36004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1500" y="476250"/>
            <a:ext cx="116014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850" i="0" u="none">
                <a:solidFill>
                  <a:srgbClr val="0F172A"/>
                </a:solidFill>
                <a:latin typeface="Poppins SemiBold"/>
              </a:rPr>
              <a:t>Reconnaissance Execution Results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111442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805112"/>
            <a:ext cx="5334000" cy="22002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1550" y="3205162"/>
            <a:ext cx="4533900" cy="1047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250"/>
              </a:lnSpc>
            </a:pPr>
            <a:r>
              <a:rPr b="1" sz="8250" i="0" u="none">
                <a:solidFill>
                  <a:srgbClr val="2563EB"/>
                </a:solidFill>
                <a:latin typeface="Poppins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1550" y="4348162"/>
            <a:ext cx="453390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1E40AF"/>
                </a:solidFill>
                <a:latin typeface="Lato"/>
              </a:rPr>
              <a:t>Open Services Mapped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86500" y="3105150"/>
            <a:ext cx="5600700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950" i="0" u="none">
                <a:solidFill>
                  <a:srgbClr val="1E40AF"/>
                </a:solidFill>
                <a:latin typeface="Poppins SemiBold"/>
              </a:rPr>
              <a:t>Standalone Dark-Mode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86500" y="3590925"/>
            <a:ext cx="5334000" cy="971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334155"/>
                </a:solidFill>
                <a:latin typeface="Lato"/>
              </a:rPr>
              <a:t>Rendered via Firefox, the generated HTML report structures target IP data, predicted operating systems (Linux/Unix/macOS), scan timestamps, and vulnerability tables into an intuitive, professional interface suitable for executive review.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476250"/>
            <a:ext cx="116014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850" i="0" u="none">
                <a:solidFill>
                  <a:srgbClr val="0F172A"/>
                </a:solidFill>
                <a:latin typeface="Poppins SemiBold"/>
              </a:rPr>
              <a:t>Executive HTML Dashboard Rendering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571500" y="111442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566987"/>
            <a:ext cx="5334000" cy="26765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566987"/>
            <a:ext cx="5334000" cy="26765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6775" y="2862262"/>
            <a:ext cx="4980622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950" i="0" u="none">
                <a:solidFill>
                  <a:srgbClr val="1E40AF"/>
                </a:solidFill>
                <a:latin typeface="Poppins SemiBold"/>
              </a:rPr>
              <a:t>Performance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6775" y="3348037"/>
            <a:ext cx="4743450" cy="7286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334155"/>
                </a:solidFill>
                <a:latin typeface="Lato"/>
              </a:rPr>
              <a:t>The transition to Scapy-based SYN stealth scanning successfully eliminated full-connect logging footprints. Thread pooling reduced scan duration significantly while maintaining robust target stability.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1775" y="2862262"/>
            <a:ext cx="4980622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950" i="0" u="none">
                <a:solidFill>
                  <a:srgbClr val="1E40AF"/>
                </a:solidFill>
                <a:latin typeface="Poppins SemiBold"/>
              </a:rPr>
              <a:t>Future Recommendations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1775" y="3348037"/>
            <a:ext cx="4743450" cy="1457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334155"/>
                </a:solidFill>
                <a:latin typeface="Lato"/>
              </a:rPr>
              <a:t>1. Integrate UDP scanning capabilities for comprehensive service discovery.</a:t>
            </a:r>
            <a:r>
              <a:t>
</a:t>
            </a:r>
            <a:r>
              <a:rPr b="0" sz="1275" i="0" u="none">
                <a:solidFill>
                  <a:srgbClr val="334155"/>
                </a:solidFill>
                <a:latin typeface="Lato"/>
              </a:rPr>
              <a:t> 2. Implement live NVD (National Vulnerability Database) API queries.</a:t>
            </a:r>
            <a:r>
              <a:t>
</a:t>
            </a:r>
            <a:r>
              <a:rPr b="0" sz="1275" i="0" u="none">
                <a:solidFill>
                  <a:srgbClr val="334155"/>
                </a:solidFill>
                <a:latin typeface="Lato"/>
              </a:rPr>
              <a:t> 3. Add randomized timing controls and decoy IP injection for advanced evasion testing.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476250"/>
            <a:ext cx="116014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850" i="0" u="none">
                <a:solidFill>
                  <a:srgbClr val="0F172A"/>
                </a:solidFill>
                <a:latin typeface="Poppins SemiBold"/>
              </a:rPr>
              <a:t>Analysis &amp; Future Recommendations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" y="111442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562" y="4176712"/>
            <a:ext cx="5476875" cy="609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5275" y="2071687"/>
            <a:ext cx="11601450" cy="904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4800" i="0" u="none">
                <a:solidFill>
                  <a:srgbClr val="0F172A"/>
                </a:solidFill>
                <a:latin typeface="Poppins"/>
              </a:rP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3119437"/>
            <a:ext cx="11049000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b="0" sz="1650" i="0" u="none">
                <a:solidFill>
                  <a:srgbClr val="475569"/>
                </a:solidFill>
                <a:latin typeface="Lato"/>
              </a:rPr>
              <a:t>Thank you for your attention. The reconnaissance framework successfully bridges low-level packet crafting with automated executive reporting.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900237" y="3138487"/>
            <a:ext cx="8391525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900237" y="3900487"/>
            <a:ext cx="8391525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900237" y="3900487"/>
            <a:ext cx="8391525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0237" y="3281362"/>
            <a:ext cx="857250" cy="476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995612" y="3288506"/>
            <a:ext cx="7296150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34155"/>
                </a:solidFill>
                <a:latin typeface="Lato"/>
              </a:rPr>
              <a:t>https://learn.microsoft.com/en-us/azure/architecture/networking/architecture/_images/hub-spoke-network-topology-architecture.svg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95612" y="3521868"/>
            <a:ext cx="72961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Lato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Lato"/>
              </a:rPr>
              <a:t>learn.microsoft.com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0237" y="4052887"/>
            <a:ext cx="857250" cy="4762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995612" y="4060031"/>
            <a:ext cx="7296150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34155"/>
                </a:solidFill>
                <a:latin typeface="Lato"/>
              </a:rPr>
              <a:t>https://cloudknowledge.in/wp-content/uploads/2026/07/thumbnail-1.svg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95612" y="4293393"/>
            <a:ext cx="72961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Lato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Lato"/>
              </a:rPr>
              <a:t>cloudknowledge.in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476250"/>
            <a:ext cx="116014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850" i="0" u="none">
                <a:solidFill>
                  <a:srgbClr val="0F172A"/>
                </a:solidFill>
                <a:latin typeface="Poppins SemiBold"/>
              </a:rPr>
              <a:t>Image Sources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1500" y="111442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